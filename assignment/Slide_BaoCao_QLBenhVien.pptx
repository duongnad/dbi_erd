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THIẾT KẾ CƠ SỞ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ED6E0"/>
                </a:solidFill>
                <a:latin typeface="Calibri"/>
              </a:rPr>
              <a:t>Hệ Thống Quản Lý Bệnh Viện (QLBenhVien)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DBI202 – Introduction to Databases  | 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FE3E8"/>
                </a:solidFill>
                <a:latin typeface="Calibri"/>
              </a:rPr>
              <a:t>Nguyễn Anh Dương • Nguyễn Minh Hiển • Nguyễn Hoàng Hiếu • Tạ Tiến Đạt • Phan Hải Đăng • Phạm Văn 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Calibri"/>
              </a:rPr>
              <a:t>1. Mô tả bài toán &amp; mục tiêu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2. Phân tích thực thể và mối quan hệ (1:1, 1:N, M:N, đệ quy, tam nguyên)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3. Sơ đồ ERD (6 phân hệ + toàn cảnh)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4. Chuyển đổi sang Relational Schema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5. Chuẩn hóa 1NF – 2NF – 3NF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6. Cài đặt CSDL bằng T-SQL (SQL Server)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7. Các chức năng: SELECT, Procedure, Function, View, Cursor, Trigger</a:t>
            </a:r>
          </a:p>
          <a:p>
            <a:pPr algn="l"/>
            <a:r>
              <a:rPr sz="2000" b="0">
                <a:solidFill>
                  <a:srgbClr val="444444"/>
                </a:solidFill>
              </a:rPr>
              <a:t>8. Thống kê &amp; Phân công công việc nhóm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A. Mô Tả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Calibri"/>
              </a:rPr>
              <a:t>Bệnh viện đa khoa cần một CSDL thống nhất, thay vì quản lý rời rạc từng khoa.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Mục tiêu: liên kết toàn bộ vòng đời điều trị — tiếp đón, chẩn đoán, kê đơn, xét nghiệm, xuất viện, thanh toán.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Quản lý song song: Nhân sự &amp; khoa phòng, Dược &amp; vật tư y tế, Tài chính viện phí.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6 phân hệ nghiệp vụ, 30 thực thể cốt lõi + 1 thực thể mở rộng (quan hệ tam nguyên).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Ràng buộc: SQL Server (T-SQL), khóa chính dạng mã nghiệp vụ, hỗ trợ tiếng Việt (NVARCHAR).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 Phân Hệ Nghiệp Vụ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Phân hệ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Thực thể tiêu biểu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 Bệnh nhân &amp; Tiếp đón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Bệnh nhân, Bảo hiểm y tế, Lịch hẹn, Hồ sơ nhập viện, Bệnh án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 Chẩn đoán &amp; Điều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Chẩn đoán, Đơn thuốc, Chi tiết đơn thuốc, Phác đồ, Dịch vụ y tế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 Xét nghiệm &amp; CĐHA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Thiết bị y tế, Danh mục XN, Kết quả XN, Chẩn đoán hình ảnh, Mẫu bệnh phẩm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 Nhân sự &amp; Khoa phòng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Khoa, Phòng bệnh, Nhân viên, Bác sĩ, Điều dưỡng, Lịch trực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 Dược &amp; Vật tư y tế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Nhà cung cấp, Đơn nhập hàng, Phiếu xuất kho, Thuốc, Vật tư y tế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 Tài chính &amp; Viện phí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Hóa đơn, Thanh toán, Bồi thường BHYT, Giao dịch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Phân Tích Mối Quan Hệ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54864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Loại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Ví dụ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Diễn giải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Bảo hiểm y tế – Bệnh nhân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Mỗi hồ sơ BHYT gắn 1 bệnh nhân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Khoa – Bác sĩ (Trưởng khoa)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Mỗi khoa có đúng 1 trưởng khoa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Khoa – Phòng bệnh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Một khoa quản lý nhiều phòng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Phác đồ – Dịch vụ y tế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 bảng trung gian PHACDO_SUDUNG_DICHVU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Đệ quy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Bác sĩ – tham vấn – Bác sĩ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Tự tham chiếu qua BS_MaBS_ThamVan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Tam nguyên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Bác sĩ – Bệnh nhân – Dịch vụ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Bảng THUC_HIEN_DICH_VU, không tách được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Sơ Đồ ERD Toàn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E3E8"/>
                </a:solidFill>
                <a:latin typeface="Calibri"/>
              </a:rPr>
              <a:t>Chuẩn ký hiệu Chen — 6 phân hệ hợp nhất, 30 thực thể</a:t>
            </a:r>
          </a:p>
        </p:txBody>
      </p:sp>
      <p:pic>
        <p:nvPicPr>
          <p:cNvPr id="5" name="Picture 4" descr="complet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84" y="1280160"/>
            <a:ext cx="250152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Phân Hệ Nhân Sự &amp; Khoa Phòng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E3E8"/>
                </a:solidFill>
                <a:latin typeface="Calibri"/>
              </a:rPr>
              <a:t>Khoa, Phòng bệnh, Nhân viên, Bác sĩ, Điều dưỡng, Lịch trực</a:t>
            </a:r>
          </a:p>
        </p:txBody>
      </p:sp>
      <p:pic>
        <p:nvPicPr>
          <p:cNvPr id="5" name="Picture 4" descr="NhanSu_KhoaPhong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61" y="1280160"/>
            <a:ext cx="560457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Phân Hệ Bệnh Nhân &amp; Tiếp Đón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E3E8"/>
                </a:solidFill>
                <a:latin typeface="Calibri"/>
              </a:rPr>
              <a:t>Bệnh nhân, Bảo hiểm y tế, Lịch hẹn, Hồ sơ nhập viện, Bệnh án</a:t>
            </a:r>
          </a:p>
        </p:txBody>
      </p:sp>
      <p:pic>
        <p:nvPicPr>
          <p:cNvPr id="5" name="Picture 4" descr="BenhNhan_TiepDon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500" y="1280160"/>
            <a:ext cx="558469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Chuyển Đổi Sang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FE3E8"/>
                </a:solidFill>
                <a:latin typeface="Calibri"/>
              </a:rPr>
              <a:t>33 bảng — PK/FK và cardinality, sinh tự động từ schema.sql</a:t>
            </a:r>
          </a:p>
        </p:txBody>
      </p:sp>
      <p:pic>
        <p:nvPicPr>
          <p:cNvPr id="5" name="Picture 4" descr="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1" y="1280160"/>
            <a:ext cx="48574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Chuẩn Hóa Cơ Sở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Calibri"/>
              </a:rPr>
              <a:t>1NF: mọi cột chỉ chứa giá trị nguyên tố — ví dụ tách CHI_TIET_DON_THUOC riêng thay vì gộp nhiều thuốc vào 1 cột.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2NF: các bảng khóa ghép (PHIEU_XUAT_KHO, PHACDO_SUDUNG_DICHVU, HOADON_CHITIET_DICHVU) không có thuộc tính phụ thuộc bộ phận.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3NF: không lưu trùng dữ liệu mô tả — HOA_DON chỉ lưu BN_MaBN, không lưu tên bệnh nhân (tránh phụ thuộc bắc cầu).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Kết luận: toàn bộ 33 bảng đạt chuẩn 3NF.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Cài Đặt CSDL (T-SQL / SQL Server)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Calibri"/>
              </a:rPr>
              <a:t>33 bảng (CREATE TABLE), 9 ALTER TABLE bổ sung khóa ngoại liên phân hệ + CHECK.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581 dòng dữ liệu mẫu (INSERT), phủ đủ 33 bảng, tôn trọng toàn vẹn tham chiếu.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Xử lý khóa ngoại vòng KHOA ⇄ BÁC SĨ bằng ALTER TABLE sau khi mọi bảng liên quan tồn tại.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14 chỉ mục (INDEX) trên các cột khóa ngoại thường xuyên truy vấn.</a:t>
            </a:r>
          </a:p>
          <a:p>
            <a:pPr algn="l"/>
            <a:r>
              <a:rPr sz="1800" b="0">
                <a:solidFill>
                  <a:srgbClr val="444444"/>
                </a:solidFill>
              </a:rPr>
              <a:t>Ràng buộc CHECK đảm bảo tính đúng đắn nghiệp vụ (VD: Phiếu xuất kho chỉ chứa 1 loại: Thuốc HOẶC Vật tư).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Các Chức Năng Của CSDL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8580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Loại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Số lượng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Ví dụ tiêu biểu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WHERE (22), JOIN 2-5 bảng (17), GROUP BY (12)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Stored Procedure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sp_ThanhToanHoaDon, sp_NhapVien, sp_KeDonThuoc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fn_TinhTuoiBenhNhan, fn_XepLoaiHoaDon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vw_BacSiThamVan, vw_ThucHienDichVuTamNguyen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Cảnh báo bệnh nhân nằm viện lâu, thuốc sắp hết hạn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Tự cập nhật tổng hóa đơn, chặn trực trùng ca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Trên các cột khóa ngoại thường xuyên truy vấn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Đối Chiếu Với Yêu Cầu Tối Thiểu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Loại câu lệnh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Yêu cầu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Thực tế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Đạt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ALTER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INSERT (dòng)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UPDATE /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SELECT 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SELECT 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GROUP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PROCEDURE +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 + INDEX + 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Bảng Phân Công Công Việc Nhóm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4297680"/>
                <a:gridCol w="128016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Họ và Tên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Sản phẩm phụ trách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% HT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Nguyễn Anh Dương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Database_QLBenhVien.sql, Values_QLBenhVien.sql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Nguyễn Minh Hiển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Procedures/Functions/Views/Cursor/Triggers,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Nguyễn Hoàng Hiếu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Phân tích &amp; Tài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Mục A, B báo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Tạ Tiến Đạt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Thiết kế &amp; Tài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Sơ đồ ERD, phân tích quan hệ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Phan Hải Đăng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Chuẩn hóa &amp; Tài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Mục C, D, E báo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Phạm Văn 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File .pptx thuyết trình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CẢM ƠN THẦY/CÔ VÀ CÁC BẠN ĐÃ LẮNG NGHE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ED6E0"/>
                </a:solidFill>
                <a:latin typeface="Calibri"/>
              </a:rPr>
              <a:t>Hệ Thống Quản Lý Bệnh Viện — QLBenhVien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